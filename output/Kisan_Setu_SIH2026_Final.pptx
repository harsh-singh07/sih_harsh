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6de95cf5b54b27" /><Relationship Type="http://schemas.openxmlformats.org/officeDocument/2006/relationships/extended-properties" Target="/docProps/app.xml" Id="R4222c4070c4f4ee2" /><Relationship Type="http://schemas.openxmlformats.org/officeDocument/2006/relationships/officeDocument" Target="/ppt/presentation.xml" Id="Ra336f47c7983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f134b34b146db"/>
  </p:sldMasterIdLst>
  <p:notesMasterIdLst>
    <p:notesMasterId xmlns:r="http://schemas.openxmlformats.org/officeDocument/2006/relationships" r:id="Rfd2dea1cfa5f4a52"/>
  </p:notesMasterIdLst>
  <p:sldIdLst>
    <p:sldId xmlns:r="http://schemas.openxmlformats.org/officeDocument/2006/relationships" id="256" r:id="R695163bbc0594f09"/>
    <p:sldId xmlns:r="http://schemas.openxmlformats.org/officeDocument/2006/relationships" id="257" r:id="Raacfce7797274068"/>
    <p:sldId xmlns:r="http://schemas.openxmlformats.org/officeDocument/2006/relationships" id="258" r:id="Rc35b16db05f64bfd"/>
    <p:sldId xmlns:r="http://schemas.openxmlformats.org/officeDocument/2006/relationships" id="259" r:id="Rf65629b3072f4c76"/>
    <p:sldId xmlns:r="http://schemas.openxmlformats.org/officeDocument/2006/relationships" id="260" r:id="Re717d75ea7ae41e8"/>
    <p:sldId xmlns:r="http://schemas.openxmlformats.org/officeDocument/2006/relationships" id="261" r:id="Rf557e7b4952744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190c231c2647d9" /><Relationship Type="http://schemas.openxmlformats.org/officeDocument/2006/relationships/slideMaster" Target="/ppt/slideMasters/slideMaster1.xml" Id="Rc90f134b34b146db" /><Relationship Type="http://schemas.openxmlformats.org/officeDocument/2006/relationships/notesMaster" Target="/ppt/notesMasters/notesMaster1.xml" Id="Rfd2dea1cfa5f4a52" /><Relationship Type="http://schemas.openxmlformats.org/officeDocument/2006/relationships/presProps" Target="/ppt/presProps.xml" Id="R80ebc853f9974540" /><Relationship Type="http://schemas.openxmlformats.org/officeDocument/2006/relationships/viewProps" Target="/ppt/viewProps.xml" Id="R5a5a560f47384af6" /><Relationship Type="http://schemas.openxmlformats.org/officeDocument/2006/relationships/tableStyles" Target="/ppt/tableStyles.xml" Id="R61eeed9f1b4c4806" /><Relationship Type="http://schemas.openxmlformats.org/officeDocument/2006/relationships/slide" Target="/ppt/slides/slide1.xml" Id="R695163bbc0594f09" /><Relationship Type="http://schemas.openxmlformats.org/officeDocument/2006/relationships/slide" Target="/ppt/slides/slide2.xml" Id="Raacfce7797274068" /><Relationship Type="http://schemas.openxmlformats.org/officeDocument/2006/relationships/slide" Target="/ppt/slides/slide3.xml" Id="Rc35b16db05f64bfd" /><Relationship Type="http://schemas.openxmlformats.org/officeDocument/2006/relationships/slide" Target="/ppt/slides/slide4.xml" Id="Rf65629b3072f4c76" /><Relationship Type="http://schemas.openxmlformats.org/officeDocument/2006/relationships/slide" Target="/ppt/slides/slide5.xml" Id="Re717d75ea7ae41e8" /><Relationship Type="http://schemas.openxmlformats.org/officeDocument/2006/relationships/slide" Target="/ppt/slides/slide6.xml" Id="Rf557e7b49527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129fc04962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8568dcedb4dd7" /><Relationship Type="http://schemas.openxmlformats.org/officeDocument/2006/relationships/notesMaster" Target="/ppt/notesMasters/notesMaster1.xml" Id="R342f427b0dbb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1a9f2fee374985" /><Relationship Type="http://schemas.openxmlformats.org/officeDocument/2006/relationships/notesMaster" Target="/ppt/notesMasters/notesMaster1.xml" Id="Reefd8e05d87945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dfd316f4c4d75" /><Relationship Type="http://schemas.openxmlformats.org/officeDocument/2006/relationships/notesMaster" Target="/ppt/notesMasters/notesMaster1.xml" Id="R3022cd484baf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541d7ab504560" /><Relationship Type="http://schemas.openxmlformats.org/officeDocument/2006/relationships/notesMaster" Target="/ppt/notesMasters/notesMaster1.xml" Id="R5d8321cca6b94a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7d8ff0f42545c8" /><Relationship Type="http://schemas.openxmlformats.org/officeDocument/2006/relationships/notesMaster" Target="/ppt/notesMasters/notesMaster1.xml" Id="R7e9a6b6048844a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d35bef48384c66" /><Relationship Type="http://schemas.openxmlformats.org/officeDocument/2006/relationships/notesMaster" Target="/ppt/notesMasters/notesMaster1.xml" Id="R0a425d425651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three bracketed registration fields before SIH submission. The remaining title-page details reflect the Kisan Setu working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screenshot comes from the supplied Kisan Setu Stitch design package. It represents the implemented dashboard structure; figures visible inside it are design-reference sample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Architecture reflects the current repository: plain static frontend, Supabase Auth, PostgreSQL with RLS, Realtime subscriptions, database triggers and the deployed create-staff Edge Function.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readiness statements describe features implemented in the current Kisan Setu workspace. Atomic token allocation remains a planned production-hardening step and is not presented as complete.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statements are expected outcomes for pilot validation, not measured claims. The pilot will establish baselines and compare results by mandi, date and operating shift.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References: https://enam.gov.in/web/ ; https://dfpd.gov.in/ ; https://supabase.com/docs/guides/auth ; https://supabase.com/docs/guides/database/postgres/row-level-security ; https://supabase.com/docs/guides/realtime/postgres-changes ; https://supabase.com/docs/guides/functions . Prototype evidence comes from the Kisan Setu workspace supplied in this task.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1958a74084f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b0bd600504d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e493f2dde40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74b7b59dd4e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f949f5cf148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711c4344340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e2fe50ee24c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774f3e4474c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ce0d5e12b4d7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28191948242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31d6087d24dc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4D46BB-D5FA-44EF-86B4-F91B6F3BAF3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A18349-3EF8-4A49-BC66-EF6AA10E8C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5D526B-986C-4A89-8C53-BC283A58F2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6CEEB1-CD8B-4A2D-8989-8F05709E10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A2ED3D-B53F-40BF-8617-51E1E52742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010A99-E7F3-4386-A901-3A1A979CC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D860A4-A450-4CC6-A33D-542FE43A64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8BD315-76AF-4249-B71F-E032DFC05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BD9DD6-8D30-4749-AB56-078CC62769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85CBA4-E2A9-4840-AE9A-293D36998B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0DE58F-B3B8-461D-A2DA-1AA857A21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FA0658-5510-4198-9BB2-02702F482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6D31BC-CD84-4992-9FB8-71EA39D30F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072592-DA63-4877-83A6-E377045AF3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D83113-1877-460D-B9D4-1AF9CA5957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D0CCB-B560-4E38-84A4-BB05E6E04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1D0C3C-8853-4462-9717-AA7096148A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955572-25A1-4D3B-83E7-9BB5538444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0D9912-C1EF-4117-B792-27A1D9AE97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F7257-8EA0-4446-A478-7254071E59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468CE9-29CE-4794-9308-E9B92F4AC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F95954-8E57-4C90-8A6D-716B3C54B0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F0E454-45B3-4786-8336-0787D1AFA6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D8BD159-678A-4496-ABD6-0806B427E5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A06FED3-4954-4E4E-88F1-C8A7760EA44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BBA4DF8-C52F-403B-A4AC-81CA645AD8C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B3B0F-6EEA-4E0C-8687-6DA9C29671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137350-9E15-4E9B-8686-BE236D7A8D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542221-2C89-4DD0-A027-DF6AFF691F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DE8B88-455A-46C1-B656-706238281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AEAC4A-ED7B-4E00-A791-45826B56FD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ADFF92-CFD2-4FEA-8248-309C38E06D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724D6F-01C0-4DAC-9DEA-D982FAF870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F4A4D7-0D0C-4C17-8F17-AA39A22291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22A594-A673-4DB8-A796-8DA3E52EFF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7FB31E-EBD6-4561-9637-2012C08E0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CB9B7A-2F20-4B06-9AB3-F5F62D087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7212B5-DD14-4BE6-9FFE-4E3FDE02C9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958003D-DABF-4CDF-920D-01D7207EA9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25625-ABD6-4E71-B513-D0062BC726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FAD69B-2906-4908-9B67-704ADC3193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DC267F-DAC9-4D57-9681-3E01CC094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1D0E8F-6132-4097-B377-C47B6E0A3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BDE9B95-882C-4844-9AE7-88FE717AE10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035D9D-C2F2-4CA8-B458-6C48827FE3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68CC37-1BE2-49A7-8137-B90DC1729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A62550-0196-4501-9DE4-4FB0676324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D20C9E-611E-4BF3-9A5B-7AFA455376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934F91-0D26-4B46-8087-C69172303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7F9AD0-800D-43B7-B293-8DB5DF89C1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66D7F4-D941-4223-8045-84AA8D3FFD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0095DB-AC3C-4AAF-A17E-079805990A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7B15C8-8375-4C7E-A5F2-6779B3B839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CA0CAA6-50FE-4F85-A61D-50C029071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C0FD90-CABF-42E4-9305-82C5067EB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94F8FE-88BF-4F32-9E94-67EB64138F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B498BF-E94E-4487-813F-AAE61AC6C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C743E7-855E-4B51-A8B6-34948052BA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cadc745fc41ca" /><Relationship Type="http://schemas.openxmlformats.org/officeDocument/2006/relationships/slideLayout" Target="/ppt/slideLayouts/slideLayout1.xml" Id="R50fed007584f4a1c" /><Relationship Type="http://schemas.openxmlformats.org/officeDocument/2006/relationships/slideLayout" Target="/ppt/slideLayouts/slideLayout2.xml" Id="R7609080f4ccc4e78" /><Relationship Type="http://schemas.openxmlformats.org/officeDocument/2006/relationships/slideLayout" Target="/ppt/slideLayouts/slideLayout3.xml" Id="Re4114c59ab63485b" /><Relationship Type="http://schemas.openxmlformats.org/officeDocument/2006/relationships/slideLayout" Target="/ppt/slideLayouts/slideLayout4.xml" Id="Rbe8530195f3240da" /><Relationship Type="http://schemas.openxmlformats.org/officeDocument/2006/relationships/slideLayout" Target="/ppt/slideLayouts/slideLayout5.xml" Id="R6681abdadd1c4064" /><Relationship Type="http://schemas.openxmlformats.org/officeDocument/2006/relationships/slideLayout" Target="/ppt/slideLayouts/slideLayout6.xml" Id="R3d0637062db847c0" /><Relationship Type="http://schemas.openxmlformats.org/officeDocument/2006/relationships/slideLayout" Target="/ppt/slideLayouts/slideLayout7.xml" Id="Red410205fb4e4778" /><Relationship Type="http://schemas.openxmlformats.org/officeDocument/2006/relationships/slideLayout" Target="/ppt/slideLayouts/slideLayout8.xml" Id="R9de9330e523e45cd" /><Relationship Type="http://schemas.openxmlformats.org/officeDocument/2006/relationships/slideLayout" Target="/ppt/slideLayouts/slideLayout9.xml" Id="R04ce29c17bb34b32" /><Relationship Type="http://schemas.openxmlformats.org/officeDocument/2006/relationships/slideLayout" Target="/ppt/slideLayouts/slideLayout10.xml" Id="R7153a91096174c02" /><Relationship Type="http://schemas.openxmlformats.org/officeDocument/2006/relationships/slideLayout" Target="/ppt/slideLayouts/slideLayout11.xml" Id="R3318c834367847f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6279922-F89F-4691-83F6-64CFC0A65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187074D-EA24-4F26-ABDB-EC0AAB8571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651995-40A4-4F89-8F66-A8B532E13A7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735470-4559-4E6D-8969-13C34CB028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8D6A2F-0C7E-4D81-97E5-6FB09A5B693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fed007584f4a1c"/>
    <p:sldLayoutId xmlns:r="http://schemas.openxmlformats.org/officeDocument/2006/relationships" id="2147483650" r:id="R7609080f4ccc4e78"/>
    <p:sldLayoutId xmlns:r="http://schemas.openxmlformats.org/officeDocument/2006/relationships" id="2147483651" r:id="Re4114c59ab63485b"/>
    <p:sldLayoutId xmlns:r="http://schemas.openxmlformats.org/officeDocument/2006/relationships" id="2147483652" r:id="Rbe8530195f3240da"/>
    <p:sldLayoutId xmlns:r="http://schemas.openxmlformats.org/officeDocument/2006/relationships" id="2147483653" r:id="R6681abdadd1c4064"/>
    <p:sldLayoutId xmlns:r="http://schemas.openxmlformats.org/officeDocument/2006/relationships" id="2147483654" r:id="R3d0637062db847c0"/>
    <p:sldLayoutId xmlns:r="http://schemas.openxmlformats.org/officeDocument/2006/relationships" id="2147483655" r:id="Red410205fb4e4778"/>
    <p:sldLayoutId xmlns:r="http://schemas.openxmlformats.org/officeDocument/2006/relationships" id="2147483656" r:id="R9de9330e523e45cd"/>
    <p:sldLayoutId xmlns:r="http://schemas.openxmlformats.org/officeDocument/2006/relationships" id="2147483657" r:id="R04ce29c17bb34b32"/>
    <p:sldLayoutId xmlns:r="http://schemas.openxmlformats.org/officeDocument/2006/relationships" id="2147483658" r:id="R7153a91096174c02"/>
    <p:sldLayoutId xmlns:r="http://schemas.openxmlformats.org/officeDocument/2006/relationships" id="2147483659" r:id="R3318c834367847f3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a628c02af4605" /><Relationship Type="http://schemas.openxmlformats.org/officeDocument/2006/relationships/image" Target="/ppt/media/image.png" Id="R341938e9215045dd" /><Relationship Type="http://schemas.openxmlformats.org/officeDocument/2006/relationships/image" Target="/ppt/media/image2.png" Id="R2f995fa0c381422d" /><Relationship Type="http://schemas.openxmlformats.org/officeDocument/2006/relationships/notesSlide" Target="/ppt/notesSlides/notesSlide1.xml" Id="Rdc9a0c8fc4434d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7003c954545b8" /><Relationship Type="http://schemas.openxmlformats.org/officeDocument/2006/relationships/image" Target="/ppt/media/image2.png" Id="R9bc5b8ea575248b4" /><Relationship Type="http://schemas.openxmlformats.org/officeDocument/2006/relationships/image" Target="/ppt/media/image3.png" Id="R5f1719483059491c" /><Relationship Type="http://schemas.openxmlformats.org/officeDocument/2006/relationships/notesSlide" Target="/ppt/notesSlides/notesSlide2.xml" Id="Rd7efdf52f66d43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9acc581524e6c" /><Relationship Type="http://schemas.openxmlformats.org/officeDocument/2006/relationships/image" Target="/ppt/media/image2.png" Id="Rbb8a02823edf457e" /><Relationship Type="http://schemas.openxmlformats.org/officeDocument/2006/relationships/notesSlide" Target="/ppt/notesSlides/notesSlide3.xml" Id="R4fca1b5bf2a745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daa13dc0874512" /><Relationship Type="http://schemas.openxmlformats.org/officeDocument/2006/relationships/image" Target="/ppt/media/image2.png" Id="Rde8fa49a873d4f89" /><Relationship Type="http://schemas.openxmlformats.org/officeDocument/2006/relationships/notesSlide" Target="/ppt/notesSlides/notesSlide4.xml" Id="Rcde41a0877b5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6c657610f14076" /><Relationship Type="http://schemas.openxmlformats.org/officeDocument/2006/relationships/image" Target="/ppt/media/image2.png" Id="R76106324398c47a7" /><Relationship Type="http://schemas.openxmlformats.org/officeDocument/2006/relationships/notesSlide" Target="/ppt/notesSlides/notesSlide5.xml" Id="R2be1f60fdda9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0002aafb344c7" /><Relationship Type="http://schemas.openxmlformats.org/officeDocument/2006/relationships/image" Target="/ppt/media/image2.png" Id="R32b14c65aedc45d7" /><Relationship Type="http://schemas.openxmlformats.org/officeDocument/2006/relationships/notesSlide" Target="/ppt/notesSlides/notesSlide6.xml" Id="Rc7294bbb325b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5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1938e9215045dd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6C211956-F233-4D08-90B2-B2D586F28B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23875" y="228600"/>
            <a:ext cx="5905500" cy="66675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4E85"/>
                </a:solidFill>
                <a:latin typeface="TradeGothic"/>
                <a:ea typeface="TradeGothic"/>
                <a:cs typeface="TradeGothic"/>
              </a:defRPr>
            </a:pPr>
            <a:r>
              <a:rPr sz="3300" b="1">
                <a:solidFill>
                  <a:srgbClr val="1F4E85"/>
                </a:solidFill>
                <a:latin typeface="TradeGothic"/>
                <a:ea typeface="TradeGothic"/>
                <a:cs typeface="TradeGothic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pic>
        <p:nvPicPr>
          <p:cNvPr id="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95fa0c381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7D93EA-22A0-4C53-A4DE-1AF9C761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 SETU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828F26-652D-45E4-B214-C83F00DD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Farmer Procurement Slot and Queue Management System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DE792E-A588-4010-A68E-BF6C582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6048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38100" rIns="952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Problem Statement ID:  [ENTER SIH PS ID]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Problem Statement Title:  Digital Mandi Procurement Slot and Queue Management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Theme:  Agriculture, FoodTech and Rural Development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PS Category:  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Team ID:  [ENTER REGISTERED TEAM ID]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Team Name:  [ENTER REGISTERED TEAM NAME]</a:t>
            </a:r>
          </a:p>
        </p:txBody>
      </p:sp>
    </p:spTree>
    <p:extLst>
      <p:ext uri="{BB962C8B-B14F-4D97-AF65-F5344CB8AC3E}">
        <p14:creationId xmlns:p14="http://schemas.microsoft.com/office/powerpoint/2010/main" val="669342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858A203-02A6-4E34-A249-E31BF93C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D159ED13-AB5A-4955-B7A0-CEB59ABF0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4E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4E85"/>
                </a:solidFill>
                <a:latin typeface="Times New Roman"/>
                <a:ea typeface="Times New Roman"/>
                <a:cs typeface="Times New Roman"/>
              </a:rPr>
              <a:t>KISAN SETU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9130AF-F9C6-4500-9BE8-C20DB25592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E53459-10C6-436B-9799-044A37C93D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539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5b8ea575248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2CC32093-7704-4848-8433-C1F85E2E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PROPOSED SOLUTION AND FARMER WORKFLOW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AC0C7D66-A4DB-421A-8E4E-789953A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B81461DF-C11E-4F5F-A071-3DA5B7D5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A capacity-aware procurement journey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07D6D7D1-3F1E-4BD4-A452-9189F4B2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6F3BFBAB-76B7-4484-9C29-9DC07CF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28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Register or sign in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D1DFF5AA-3C78-4575-8390-682B8BF8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Phone-style login mapped to a secure account identity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644E76D6-627F-44AA-A14E-0393CD8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AAB25DD8-3B7D-40EB-A6C2-D8FD439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Reserve a mandi slot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0AE467C3-A29C-4175-ACC6-C2DB895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Choose centre, date, time and produce quantity</a:t>
            </a:r>
          </a:p>
        </p:txBody>
      </p:sp>
      <p:cxnSp>
        <p:nvCxnSpPr>
          <p:cNvPr id="15405" name=""/>
          <p:cNvCxnSpPr>
            <a:stCxn xmlns:a="http://schemas.openxmlformats.org/drawingml/2006/main" id="15367" idx="4"/>
            <a:endCxn xmlns:a="http://schemas.openxmlformats.org/drawingml/2006/main" id="15370" idx="0"/>
          </p:cNvCxnSpPr>
          <p:nvPr/>
        </p:nvCxnSpPr>
        <p:spPr>
          <a:xfrm xmlns:a="http://schemas.openxmlformats.org/drawingml/2006/main">
            <a:off x="895350" y="25431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91E05FD8-5997-4879-BEF6-5C1FA8A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041F1612-D2A1-4C5C-B894-9A3CBEDE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051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Receive token and gate pass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C2F115F0-7A76-4E7F-80C7-5DC574A8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A digital record prepares the farmer for entry</a:t>
            </a:r>
          </a:p>
        </p:txBody>
      </p:sp>
      <p:cxnSp>
        <p:nvCxnSpPr>
          <p:cNvPr id="15409" name=""/>
          <p:cNvCxnSpPr>
            <a:stCxn xmlns:a="http://schemas.openxmlformats.org/drawingml/2006/main" id="15370" idx="4"/>
            <a:endCxn xmlns:a="http://schemas.openxmlformats.org/drawingml/2006/main" id="15374" idx="0"/>
          </p:cNvCxnSpPr>
          <p:nvPr/>
        </p:nvCxnSpPr>
        <p:spPr>
          <a:xfrm xmlns:a="http://schemas.openxmlformats.org/drawingml/2006/main">
            <a:off x="895350" y="31813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D85F67EF-7B5B-4058-8081-55CBB88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D1473499-20EE-4C36-996A-69918C0E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Track the live queue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FB4BE7A9-9F4F-4C8F-8957-638D114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005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Realtime status shows the current position</a:t>
            </a:r>
          </a:p>
        </p:txBody>
      </p:sp>
      <p:cxnSp>
        <p:nvCxnSpPr>
          <p:cNvPr id="15413" name=""/>
          <p:cNvCxnSpPr>
            <a:stCxn xmlns:a="http://schemas.openxmlformats.org/drawingml/2006/main" id="15374" idx="4"/>
            <a:endCxn xmlns:a="http://schemas.openxmlformats.org/drawingml/2006/main" id="15378" idx="0"/>
          </p:cNvCxnSpPr>
          <p:nvPr/>
        </p:nvCxnSpPr>
        <p:spPr>
          <a:xfrm xmlns:a="http://schemas.openxmlformats.org/drawingml/2006/main">
            <a:off x="895350" y="3819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C35439F1-6CA3-498D-9CEC-325F07BC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C01498AC-27B2-42DA-A5A6-3B659265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81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Complete procurement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77769228-2532-4CDF-8239-7F490CD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07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Procurement and recorded payment status reach the inbox</a:t>
            </a:r>
          </a:p>
        </p:txBody>
      </p:sp>
      <p:cxnSp>
        <p:nvCxnSpPr>
          <p:cNvPr id="15417" name=""/>
          <p:cNvCxnSpPr>
            <a:stCxn xmlns:a="http://schemas.openxmlformats.org/drawingml/2006/main" id="15378" idx="4"/>
            <a:endCxn xmlns:a="http://schemas.openxmlformats.org/drawingml/2006/main" id="15382" idx="0"/>
          </p:cNvCxnSpPr>
          <p:nvPr/>
        </p:nvCxnSpPr>
        <p:spPr>
          <a:xfrm xmlns:a="http://schemas.openxmlformats.org/drawingml/2006/main">
            <a:off x="895350" y="4457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B6E08F3E-7B62-4139-9DAC-101EAEAB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56197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9D8"/>
            </a:solidFill>
          </a:ln>
        </p:spPr>
      </p:sp>
      <p:pic>
        <p:nvPicPr>
          <p:cNvPr id="15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719483059491c"/>
          <a:srcRect xmlns:a="http://schemas.openxmlformats.org/drawingml/2006/main" l="0" t="34129" r="0" b="3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857375"/>
            <a:ext cx="54292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15388" name="">
            <a:extLst xmlns:a="http://schemas.openxmlformats.org/drawingml/2006/main">
              <a:ext uri="{FF2B5EF4-FFF2-40B4-BE49-F238E27FC236}">
                <a16:creationId xmlns:a16="http://schemas.microsoft.com/office/drawing/2014/main" id="{7F4E6382-970A-4610-A1F5-E8BA6427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4825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778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Farmer dashboard design: token, booking status, queue position, gate pass and history</a:t>
            </a:r>
          </a:p>
        </p:txBody>
      </p:sp>
      <p:sp>
        <p:nvSpPr>
          <p:cNvPr id="15389" name="">
            <a:extLst xmlns:a="http://schemas.openxmlformats.org/drawingml/2006/main">
              <a:ext uri="{FF2B5EF4-FFF2-40B4-BE49-F238E27FC236}">
                <a16:creationId xmlns:a16="http://schemas.microsoft.com/office/drawing/2014/main" id="{C062A240-4936-4D4F-A4E7-ED7BEE1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715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C5C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5C32"/>
                </a:solidFill>
                <a:latin typeface="Arial"/>
                <a:ea typeface="Arial"/>
                <a:cs typeface="Arial"/>
              </a:rPr>
              <a:t>Unique design: one role-aware login, admin-only operator creation, capacity-linked slots and realtime farmer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504814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A1E4FB8-167D-4A34-B780-03E81B058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06119-AF32-4409-A277-D99533233E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0CE0F2E-835C-4829-949A-24A76061C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5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a02823edf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0512BEE-49A5-44E5-A109-88EE8E33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8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SYSTEM ARCHITECTURE AND OPERATIONAL WORKFLOW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5B62F71-C56B-4138-BDFA-7D66516D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3AA16B78-E987-4AD3-98B9-869C9F1D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B5483B25-F3AE-4732-8D13-54599D6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Farmer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2A0FD905-5C50-4BFD-99E1-0BF22432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9784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4C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C00"/>
                </a:solidFill>
                <a:latin typeface="Arial"/>
                <a:ea typeface="Arial"/>
                <a:cs typeface="Arial"/>
              </a:rPr>
              <a:t>Mandi</a:t>
            </a:r>
          </a:p>
          <a:p xmlns:a="http://schemas.openxmlformats.org/drawingml/2006/main">
            <a:pPr algn="ctr">
              <a:defRPr sz="1575" b="1">
                <a:solidFill>
                  <a:srgbClr val="A84C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C00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0FF0CB23-96A8-4972-839B-436EF30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1A6A45DE-54AF-49D9-B45A-480B3AFE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WEB INTERFACES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3856A1A1-081A-4FF8-93BE-87EF426E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Public portal</a:t>
            </a:r>
          </a:p>
          <a:p xmlns:a="http://schemas.openxmlformats.org/drawingml/2006/main">
            <a:pPr algn="ctr">
              <a:defRPr sz="14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HTML + CSS + JavaScript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9CB6FD2-01F6-4D7B-AA98-DEF3A28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09925"/>
            <a:ext cx="2047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926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Operator queue</a:t>
            </a:r>
          </a:p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Centre-scoped actions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D052A0E8-C48C-45C7-AF0F-C191284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29100"/>
            <a:ext cx="2047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Admin portal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Centres, slots, bookings, staff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5B962700-BE07-4508-8A1F-99351311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1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SUPABASE SERVICES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04F395C7-A907-463B-8197-5977E55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3143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Authentication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Phone mapped to internal email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D6B8B4BA-B3FD-41B3-B4A2-D9D38E34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7177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PostgreSQL + Row Level Security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Role and centre isolation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CB37EB87-DC94-4D4D-B76C-866CF864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004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Realtime booking changes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Farmer and admin views update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63749CF0-CBF4-4F14-8626-52EA0E1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3143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Edge Function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Secure operator account creation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BB3C38B1-0613-438B-91B1-5121032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55C44541-EED1-4B08-B32D-F2DCD63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centres + slots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bookings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cxnSp>
        <p:nvCxnSpPr>
          <p:cNvPr id="17469" name=""/>
          <p:cNvCxnSpPr>
            <a:stCxn xmlns:a="http://schemas.openxmlformats.org/drawingml/2006/main" id="17419" idx="1"/>
            <a:endCxn xmlns:a="http://schemas.openxmlformats.org/drawingml/2006/main" id="17415" idx="3"/>
          </p:cNvCxnSpPr>
          <p:nvPr/>
        </p:nvCxnSpPr>
        <p:spPr>
          <a:xfrm xmlns:a="http://schemas.openxmlformats.org/drawingml/2006/main" flipH="1" flipV="1">
            <a:off x="2047875" y="2324100"/>
            <a:ext cx="4762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44"/>
            </a:solidFill>
            <a:headEnd type="arrow" w="med" len="med"/>
          </a:ln>
        </p:spPr>
      </p:cxnSp>
      <p:cxnSp>
        <p:nvCxnSpPr>
          <p:cNvPr id="17470" name=""/>
          <p:cNvCxnSpPr>
            <a:stCxn xmlns:a="http://schemas.openxmlformats.org/drawingml/2006/main" id="17420" idx="1"/>
            <a:endCxn xmlns:a="http://schemas.openxmlformats.org/drawingml/2006/main" id="17416" idx="3"/>
          </p:cNvCxnSpPr>
          <p:nvPr/>
        </p:nvCxnSpPr>
        <p:spPr>
          <a:xfrm xmlns:a="http://schemas.openxmlformats.org/drawingml/2006/main" flipH="1" flipV="1">
            <a:off x="2047875" y="3181350"/>
            <a:ext cx="4762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8220"/>
            </a:solidFill>
            <a:headEnd type="arrow" w="med" len="med"/>
          </a:ln>
        </p:spPr>
      </p:cxnSp>
      <p:cxnSp>
        <p:nvCxnSpPr>
          <p:cNvPr id="17471" name=""/>
          <p:cNvCxnSpPr>
            <a:stCxn xmlns:a="http://schemas.openxmlformats.org/drawingml/2006/main" id="17421" idx="1"/>
            <a:endCxn xmlns:a="http://schemas.openxmlformats.org/drawingml/2006/main" id="17417" idx="3"/>
          </p:cNvCxnSpPr>
          <p:nvPr/>
        </p:nvCxnSpPr>
        <p:spPr>
          <a:xfrm xmlns:a="http://schemas.openxmlformats.org/drawingml/2006/main" flipH="1" flipV="1">
            <a:off x="2047875" y="4038600"/>
            <a:ext cx="4762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85"/>
            </a:solidFill>
            <a:headEnd type="arrow" w="med" len="med"/>
          </a:ln>
        </p:spPr>
      </p:cxnSp>
      <p:cxnSp>
        <p:nvCxnSpPr>
          <p:cNvPr id="17472" name=""/>
          <p:cNvCxnSpPr>
            <a:stCxn xmlns:a="http://schemas.openxmlformats.org/drawingml/2006/main" id="17424" idx="1"/>
            <a:endCxn xmlns:a="http://schemas.openxmlformats.org/drawingml/2006/main" id="17419" idx="3"/>
          </p:cNvCxnSpPr>
          <p:nvPr/>
        </p:nvCxnSpPr>
        <p:spPr>
          <a:xfrm xmlns:a="http://schemas.openxmlformats.org/drawingml/2006/main" flipH="1" flipV="1">
            <a:off x="4572000" y="2533650"/>
            <a:ext cx="428625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8C9D8"/>
            </a:solidFill>
            <a:headEnd type="arrow" w="sm" len="sm"/>
          </a:ln>
        </p:spPr>
      </p:cxnSp>
      <p:cxnSp>
        <p:nvCxnSpPr>
          <p:cNvPr id="17473" name=""/>
          <p:cNvCxnSpPr>
            <a:stCxn xmlns:a="http://schemas.openxmlformats.org/drawingml/2006/main" id="17424" idx="1"/>
            <a:endCxn xmlns:a="http://schemas.openxmlformats.org/drawingml/2006/main" id="17420" idx="3"/>
          </p:cNvCxnSpPr>
          <p:nvPr/>
        </p:nvCxnSpPr>
        <p:spPr>
          <a:xfrm xmlns:a="http://schemas.openxmlformats.org/drawingml/2006/main" flipH="1">
            <a:off x="4572000" y="3114675"/>
            <a:ext cx="428625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8C9D8"/>
            </a:solidFill>
            <a:headEnd type="arrow" w="sm" len="sm"/>
          </a:ln>
        </p:spPr>
      </p:cxnSp>
      <p:cxnSp>
        <p:nvCxnSpPr>
          <p:cNvPr id="17474" name=""/>
          <p:cNvCxnSpPr>
            <a:stCxn xmlns:a="http://schemas.openxmlformats.org/drawingml/2006/main" id="17424" idx="1"/>
            <a:endCxn xmlns:a="http://schemas.openxmlformats.org/drawingml/2006/main" id="17421" idx="3"/>
          </p:cNvCxnSpPr>
          <p:nvPr/>
        </p:nvCxnSpPr>
        <p:spPr>
          <a:xfrm xmlns:a="http://schemas.openxmlformats.org/drawingml/2006/main" flipH="1">
            <a:off x="4572000" y="311467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8C9D8"/>
            </a:solidFill>
            <a:headEnd type="arrow" w="sm" len="sm"/>
          </a:ln>
        </p:spPr>
      </p:cxnSp>
      <p:cxnSp>
        <p:nvCxnSpPr>
          <p:cNvPr id="17475" name=""/>
          <p:cNvCxnSpPr>
            <a:stCxn xmlns:a="http://schemas.openxmlformats.org/drawingml/2006/main" id="17428" idx="1"/>
            <a:endCxn xmlns:a="http://schemas.openxmlformats.org/drawingml/2006/main" id="17423" idx="3"/>
          </p:cNvCxnSpPr>
          <p:nvPr/>
        </p:nvCxnSpPr>
        <p:spPr>
          <a:xfrm xmlns:a="http://schemas.openxmlformats.org/drawingml/2006/main" flipH="1" flipV="1">
            <a:off x="8143875" y="2314575"/>
            <a:ext cx="619125" cy="1066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F4E85"/>
            </a:solidFill>
            <a:headEnd type="arrow" w="sm" len="sm"/>
          </a:ln>
        </p:spPr>
      </p:cxnSp>
      <p:cxnSp>
        <p:nvCxnSpPr>
          <p:cNvPr id="17476" name=""/>
          <p:cNvCxnSpPr>
            <a:stCxn xmlns:a="http://schemas.openxmlformats.org/drawingml/2006/main" id="17428" idx="1"/>
            <a:endCxn xmlns:a="http://schemas.openxmlformats.org/drawingml/2006/main" id="17424" idx="3"/>
          </p:cNvCxnSpPr>
          <p:nvPr/>
        </p:nvCxnSpPr>
        <p:spPr>
          <a:xfrm xmlns:a="http://schemas.openxmlformats.org/drawingml/2006/main" flipH="1" flipV="1">
            <a:off x="8143875" y="3114675"/>
            <a:ext cx="6191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44"/>
            </a:solidFill>
            <a:headEnd type="arrow" w="med" len="med"/>
          </a:ln>
        </p:spPr>
      </p:cxnSp>
      <p:cxnSp>
        <p:nvCxnSpPr>
          <p:cNvPr id="17477" name=""/>
          <p:cNvCxnSpPr>
            <a:stCxn xmlns:a="http://schemas.openxmlformats.org/drawingml/2006/main" id="17428" idx="1"/>
            <a:endCxn xmlns:a="http://schemas.openxmlformats.org/drawingml/2006/main" id="17425" idx="3"/>
          </p:cNvCxnSpPr>
          <p:nvPr/>
        </p:nvCxnSpPr>
        <p:spPr>
          <a:xfrm xmlns:a="http://schemas.openxmlformats.org/drawingml/2006/main" flipH="1">
            <a:off x="8143875" y="3381375"/>
            <a:ext cx="619125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B79BE"/>
            </a:solidFill>
            <a:headEnd type="arrow" w="sm" len="sm"/>
          </a:ln>
        </p:spPr>
      </p:cxnSp>
      <p:cxnSp>
        <p:nvCxnSpPr>
          <p:cNvPr id="17478" name=""/>
          <p:cNvCxnSpPr>
            <a:stCxn xmlns:a="http://schemas.openxmlformats.org/drawingml/2006/main" id="17428" idx="1"/>
            <a:endCxn xmlns:a="http://schemas.openxmlformats.org/drawingml/2006/main" id="17426" idx="3"/>
          </p:cNvCxnSpPr>
          <p:nvPr/>
        </p:nvCxnSpPr>
        <p:spPr>
          <a:xfrm xmlns:a="http://schemas.openxmlformats.org/drawingml/2006/main" flipH="1">
            <a:off x="8143875" y="3381375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F58220"/>
            </a:solidFill>
            <a:headEnd type="arrow" w="sm" len="sm"/>
          </a:ln>
        </p:spPr>
      </p:cxn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FCAE208E-D6BB-4DFA-B0DB-63494FDA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Admin configures centre and capacity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66779B2D-F212-4FDD-BB11-175CFD1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10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Farmer books a slot and receives token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4DDDE4AB-2F61-4755-B8AD-3A9AA752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10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Operator advances procurement status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D91BD80C-CF23-411B-8F4B-2AFED75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102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Realtime update and notification reach farmer</a:t>
            </a:r>
          </a:p>
        </p:txBody>
      </p:sp>
      <p:cxnSp>
        <p:nvCxnSpPr>
          <p:cNvPr id="17483" name=""/>
          <p:cNvCxnSpPr>
            <a:stCxn xmlns:a="http://schemas.openxmlformats.org/drawingml/2006/main" id="17440" idx="1"/>
            <a:endCxn xmlns:a="http://schemas.openxmlformats.org/drawingml/2006/main" id="17439" idx="3"/>
          </p:cNvCxnSpPr>
          <p:nvPr/>
        </p:nvCxnSpPr>
        <p:spPr>
          <a:xfrm xmlns:a="http://schemas.openxmlformats.org/drawingml/2006/main" flipH="1">
            <a:off x="2857500" y="56864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4E85"/>
            </a:solidFill>
            <a:headEnd type="arrow" w="sm" len="sm"/>
          </a:ln>
        </p:spPr>
      </p:cxnSp>
      <p:cxnSp>
        <p:nvCxnSpPr>
          <p:cNvPr id="17484" name=""/>
          <p:cNvCxnSpPr>
            <a:stCxn xmlns:a="http://schemas.openxmlformats.org/drawingml/2006/main" id="17441" idx="1"/>
            <a:endCxn xmlns:a="http://schemas.openxmlformats.org/drawingml/2006/main" id="17440" idx="3"/>
          </p:cNvCxnSpPr>
          <p:nvPr/>
        </p:nvCxnSpPr>
        <p:spPr>
          <a:xfrm xmlns:a="http://schemas.openxmlformats.org/drawingml/2006/main" flipH="1">
            <a:off x="5286375" y="56864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38A44"/>
            </a:solidFill>
            <a:headEnd type="arrow" w="sm" len="sm"/>
          </a:ln>
        </p:spPr>
      </p:cxnSp>
      <p:cxnSp>
        <p:nvCxnSpPr>
          <p:cNvPr id="17485" name=""/>
          <p:cNvCxnSpPr>
            <a:stCxn xmlns:a="http://schemas.openxmlformats.org/drawingml/2006/main" id="17442" idx="1"/>
            <a:endCxn xmlns:a="http://schemas.openxmlformats.org/drawingml/2006/main" id="17441" idx="3"/>
          </p:cNvCxnSpPr>
          <p:nvPr/>
        </p:nvCxnSpPr>
        <p:spPr>
          <a:xfrm xmlns:a="http://schemas.openxmlformats.org/drawingml/2006/main" flipH="1">
            <a:off x="7715250" y="56864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8220"/>
            </a:solidFill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7818206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34A307A-BB20-44B7-B74D-DDA3625E5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A47CB-2996-4D8B-8707-EA910CA2FE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E034C27-B395-4DC5-BC88-8F58858BD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2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fa49a873d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9943CFAA-DD81-4805-A085-2807CD54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80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WORKING MVP, IMPLEMENTATION RISKS AND PILOT PATH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6E9EAFD-20AF-491E-9B3B-C794204E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00EAC7B2-E217-4241-BFC7-750BB8EB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882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WORKING PROTOTYPE; PILOT HARDENING NEXT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5D53D77-CA43-4F79-B45C-12C15AE3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Implemented prototype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0D5CF265-8A7E-4212-B205-2BBAE46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08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943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Responsive farmer, operator and admin portals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Five-table procurement data model with RLS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Booking and notification subscriptions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Admin-only operator provisioning via Edge Function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Local prototype connected to a hosted Supabase backend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627A82B8-5DDF-48EF-A936-E0C06A5F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Key risks and controls</a:t>
            </a:r>
          </a:p>
        </p:txBody>
      </p:sp>
      <p:graphicFrame>
        <p:nvGraphicFramePr>
          <p:cNvPr id="17433" name=""/>
          <p:cNvGraphicFramePr/>
          <p:nvPr/>
        </p:nvGraphicFramePr>
        <p:xfrm>
          <a:off xmlns:a="http://schemas.openxmlformats.org/drawingml/2006/main" x="4953000" y="214312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81500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1F4E8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 / next hardening step</a:t>
                      </a:r>
                    </a:p>
                  </a:txBody>
                  <a:tcPr marL="91440" marR="91440" marT="45720" marB="45720">
                    <a:solidFill>
                      <a:srgbClr val="1F4E85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Weak mandi connectivity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Lightweight pages and retry states; offline gate-pass access is planned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Simultaneous slot booking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Unique slot-token constraints; move token allocation into one database transaction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Incorrect role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Server-assigned roles, route guards and Row Level Security on every 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Low staff adoption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Touch-friendly operator queue, centre-scoped screens and short assisted onboarding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1A31899C-B427-4A02-892B-DE569EEE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Pilot path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9163238F-D7F3-481E-B4AB-B475205F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62575"/>
            <a:ext cx="957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1. One mandi and one operator shift     2. Measure wait, no-shows and slot use     3. Expand after security review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75DB1B6-F46D-4436-BC35-6307A6E40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6A27A7-8910-4172-B78F-4B4016E6EF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1FB3FF5-60C5-4B13-B2BE-21BCDDD65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3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06324398c47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2B6E18E4-B3EF-40D6-B6A6-09D79D1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EXPECTED OUTCOMES AND PILOT MEASUREMENT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10266535-7C55-4615-A6CA-9A9AE532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14D9DB0A-E0A9-4F71-B0AE-10EB2BB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38A44"/>
            </a:solidFill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C3216465-786C-42C5-9C32-6CD97B99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FARMER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5F81FEC2-484F-4C5C-8CE1-0908AA76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Planned arrival replaces uncertain waiting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Live queue and payment status reduce repeated enquiries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04603A91-1571-4197-808A-6E885F56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58220"/>
            </a:solidFill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515C3D05-100C-4DFB-B7AF-3CFA617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MANDI OPERATIONS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C8EEDDE2-FC83-4AF7-9255-B60E019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Capacity-based windows smooth gate inflow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Operators work from one ordered, centre-scoped queue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1CAF4EC0-4ECB-4D9A-99EA-70E64F2D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F4E85"/>
            </a:solidFill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56C8C291-7309-44AB-89C9-03D37BEB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GOVERNMENT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C9FE864A-DD48-4B51-8825-380A0702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Booking-to-payment history supports audit review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 utilisation reveals where capacity is constrained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0E7DD1B9-0545-4F40-A187-1B0A3CE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8137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B79BE"/>
            </a:solidFill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DF04D63B-83D9-42DC-9C94-A21B0024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79B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79BE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E6AB2EFD-E175-4B81-8243-E55F4D1E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Shorter queues can reduce engine idling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Fewer avoidable trips reduce local congestion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F5C48E5D-9D76-49FA-8E9C-BC1485E8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Pilot success measures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C892F590-ED04-415C-834A-A772AED2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Median gate wait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6E9FAE85-ED89-4AF5-A65E-71071E4B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8900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Arrival within booked window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5573AAC7-2C22-4AA1-B33D-2774382B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No-show rate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3AB488C3-CD29-4693-ADE3-9C151663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8900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Token-to-procurement time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3A4080E1-8673-4955-A4A8-10BF7A2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908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Payment status visibility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C53DAEF-64FC-4B95-A600-69C333CC9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CECC88-F7BE-4451-B303-728BADDDB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924719A-66D3-452E-96D1-2578DC1681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14c65aedc45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47349EF0-CCD3-43C6-8C2F-9DF621ED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897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PRIMARY REFERENCES AND WORKING PROTOTYPE EVIDENCE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D985DDA-C6A7-4A28-9E37-D56A0310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0C6F9D04-FC4A-45F6-B4AA-BCCE0A4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Government and domain references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B01E109B-AE11-4876-AB78-028A2616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1911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National Agriculture Market (e-NAM)</a:t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https://enam.gov.in/web/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Department of Food and Public Distribution</a:t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https://dfpd.gov.in/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Smart India Hackathon 2026 idea presentation format</a:t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Supplied SIH template and submission instructions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6C8AB0F7-9DFB-4054-AA69-B3E98BF8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Technology references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AB5986A-30E7-4A72-A63D-CFF601C1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0958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Supabase Authentication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https://supabase.com/docs/guides/auth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Row Level Security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https://supabase.com/docs/guides/database/postgres/row-level-security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Realtime Postgres changes and Edge Functions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https://supabase.com/docs/guides/realtime/postgres-changes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https://supabase.com/docs/guides/functions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BFA57D82-8F0A-405D-B796-CC02E4BC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954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3C7D2751-0AC2-4054-9F92-2552BE5D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244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Local demo: http://localhost:8080/     Source modules: public portal, operator queue, admin command, Supabase migrations and create-staff function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2026-09-10T08:20:57.1990000Z</dcterms:created>
  <dcterms:modified xsi:type="dcterms:W3CDTF">2026-09-10T08:20:57.1990000Z</dcterms:modified>
</coreProperties>
</file>