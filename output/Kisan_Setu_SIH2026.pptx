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72b2e3c2449e4" /><Relationship Type="http://schemas.openxmlformats.org/officeDocument/2006/relationships/extended-properties" Target="/docProps/app.xml" Id="R3bff593c84cb49eb" /><Relationship Type="http://schemas.openxmlformats.org/officeDocument/2006/relationships/officeDocument" Target="/ppt/presentation.xml" Id="Rbf1c2409ab48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dbaf4b57f48cd"/>
  </p:sldMasterIdLst>
  <p:notesMasterIdLst>
    <p:notesMasterId xmlns:r="http://schemas.openxmlformats.org/officeDocument/2006/relationships" r:id="R80974dc9265b4238"/>
  </p:notesMasterIdLst>
  <p:sldIdLst>
    <p:sldId xmlns:r="http://schemas.openxmlformats.org/officeDocument/2006/relationships" id="256" r:id="R18ed7182f49a4972"/>
    <p:sldId xmlns:r="http://schemas.openxmlformats.org/officeDocument/2006/relationships" id="257" r:id="R167d9478f5c24497"/>
    <p:sldId xmlns:r="http://schemas.openxmlformats.org/officeDocument/2006/relationships" id="258" r:id="Rcc2fc4dce48d4791"/>
    <p:sldId xmlns:r="http://schemas.openxmlformats.org/officeDocument/2006/relationships" id="259" r:id="R234fffce2bb14002"/>
    <p:sldId xmlns:r="http://schemas.openxmlformats.org/officeDocument/2006/relationships" id="260" r:id="Rc6ff8c00aa8842e5"/>
    <p:sldId xmlns:r="http://schemas.openxmlformats.org/officeDocument/2006/relationships" id="261" r:id="Ra1187537024348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8f7580bbb487e" /><Relationship Type="http://schemas.openxmlformats.org/officeDocument/2006/relationships/slideMaster" Target="/ppt/slideMasters/slideMaster1.xml" Id="R134dbaf4b57f48cd" /><Relationship Type="http://schemas.openxmlformats.org/officeDocument/2006/relationships/notesMaster" Target="/ppt/notesMasters/notesMaster1.xml" Id="R80974dc9265b4238" /><Relationship Type="http://schemas.openxmlformats.org/officeDocument/2006/relationships/presProps" Target="/ppt/presProps.xml" Id="Ra0003b54f99e4a23" /><Relationship Type="http://schemas.openxmlformats.org/officeDocument/2006/relationships/viewProps" Target="/ppt/viewProps.xml" Id="R48ea4fff33144380" /><Relationship Type="http://schemas.openxmlformats.org/officeDocument/2006/relationships/tableStyles" Target="/ppt/tableStyles.xml" Id="R59ef3e3ac68841a9" /><Relationship Type="http://schemas.openxmlformats.org/officeDocument/2006/relationships/slide" Target="/ppt/slides/slide1.xml" Id="R18ed7182f49a4972" /><Relationship Type="http://schemas.openxmlformats.org/officeDocument/2006/relationships/slide" Target="/ppt/slides/slide2.xml" Id="R167d9478f5c24497" /><Relationship Type="http://schemas.openxmlformats.org/officeDocument/2006/relationships/slide" Target="/ppt/slides/slide3.xml" Id="Rcc2fc4dce48d4791" /><Relationship Type="http://schemas.openxmlformats.org/officeDocument/2006/relationships/slide" Target="/ppt/slides/slide4.xml" Id="R234fffce2bb14002" /><Relationship Type="http://schemas.openxmlformats.org/officeDocument/2006/relationships/slide" Target="/ppt/slides/slide5.xml" Id="Rc6ff8c00aa8842e5" /><Relationship Type="http://schemas.openxmlformats.org/officeDocument/2006/relationships/slide" Target="/ppt/slides/slide6.xml" Id="Ra1187537024348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06b8b0a0f4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0f463d2d5476c" /><Relationship Type="http://schemas.openxmlformats.org/officeDocument/2006/relationships/notesMaster" Target="/ppt/notesMasters/notesMaster1.xml" Id="R942cd0f813cc4d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dd623653c4895" /><Relationship Type="http://schemas.openxmlformats.org/officeDocument/2006/relationships/notesMaster" Target="/ppt/notesMasters/notesMaster1.xml" Id="R2114355db397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1932fa34c4458" /><Relationship Type="http://schemas.openxmlformats.org/officeDocument/2006/relationships/notesMaster" Target="/ppt/notesMasters/notesMaster1.xml" Id="R2da7bf4b0fac4d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c5411642e4f0a" /><Relationship Type="http://schemas.openxmlformats.org/officeDocument/2006/relationships/notesMaster" Target="/ppt/notesMasters/notesMaster1.xml" Id="R1368f74fbd864f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a275038fa24cf8" /><Relationship Type="http://schemas.openxmlformats.org/officeDocument/2006/relationships/notesMaster" Target="/ppt/notesMasters/notesMaster1.xml" Id="R17fe59db6bd743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b95a6165684a66" /><Relationship Type="http://schemas.openxmlformats.org/officeDocument/2006/relationships/notesMaster" Target="/ppt/notesMasters/notesMaster1.xml" Id="Rf17720f7057d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three bracketed registration fields before SIH submission. The remaining title-page details reflect the Kisan Setu working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screenshot comes from the supplied Kisan Setu Stitch design package. It represents the implemented dashboard structure; figures visible inside it are design-reference sample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Architecture reflects the current repository: plain static frontend, Supabase Auth, PostgreSQL with RLS, Realtime subscriptions, database triggers and the deployed create-staff Edge Function.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readiness statements describe features implemented in the current Kisan Setu workspace. Atomic token allocation remains a planned production-hardening step and is not presented as complete.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statements are expected outcomes for pilot validation, not measured claims. The pilot will establish baselines and compare results by mandi, date and operating shift.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References: https://enam.gov.in/web/ ; https://dfpd.gov.in/ ; https://supabase.com/docs/guides/auth ; https://supabase.com/docs/guides/database/postgres/row-level-security ; https://supabase.com/docs/guides/realtime/postgres-changes ; https://supabase.com/docs/guides/functions . Prototype evidence comes from the Kisan Setu workspace supplied in this task.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eb0a5ef0540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70b6ec52147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115fadb2145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066fdc65940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39d9b49ec49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d343bbe1341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33837a44d49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03514848d46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3732fd947414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6592e52cd4d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41ac8e563441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ADB560-0426-45DA-86EC-F276D8205D1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B2B8F35-77A8-4BBF-B535-54ADD3A1CD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470F05-97AC-4B73-B437-C02E7353B8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35F2D1-BFFB-4368-8179-3D902CC87B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FD53BE-6F91-4C47-A40B-2BC623900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F6835B-77C5-42F9-9390-D5C583BC0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DD842A-FC18-4328-B339-290F8D9B2F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993B78-D9B9-44C3-A61D-9981C2CC26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300F84-4D03-4F45-B6C4-D0A5DC2407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CB05D-63FF-4A4F-A66B-99E4A4825E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01FEF3-8300-4C0D-A614-269C1EEC2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9A428A-6E06-4A5E-9E5F-7128BC97E4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05FFDF-9ED9-4031-A9D3-BC5CA809C6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6F0FF5-28B8-44F9-9D85-7B797AD94D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671EE6-A31C-4F38-9183-8F099DD16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B04B0-C35A-4D2D-9C5C-93C8C7CDD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5FE485-ADDE-4644-B853-54C04B1203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E2B90A2-44AC-4BA1-8982-83F5520D22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EC6C52-A2C4-42A0-BED4-16ED5680FC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C134A0-0D52-4C57-B6A0-6DA643584F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952150-529E-4D70-8E28-06D8F127A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3418BF-D80E-480F-AD83-1279CF467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B63311-9DA3-4202-B909-7AE17C09CD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D5A3F9-7068-44C5-9EC4-5505498BF9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89A53D8-9E33-4391-AE76-A32CDDB263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59DF90B-5679-43AC-90E0-3552BA4CB34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30E6A6-620E-4EFF-8243-A90E3D5F22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08D94B-1022-4AC7-9A08-4A2FEEE336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7FC5F6-388D-45DA-A943-3F3040706D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269574-C4CF-4589-BF88-B9AD6833B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754992-89F7-4C8D-B99B-EA508209C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4294-39AD-4521-8EE3-1EFCB1EAFD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B0D7F1-F267-45DB-8B8A-B37DB84E37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77C5A2-5837-4FE8-9BA6-971C88E7C9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0E54C4-D32F-4864-900C-9A5552B6A5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8948BF-95C7-47BA-8791-4C2F39083E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97E56A-8E0D-4EAF-A45B-A527209E9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0E3EA00-337A-4AD5-8FB1-256A6B1DF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73214D-54E2-46FA-A4C5-89B43A17D4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3979D3-DE20-418B-ACBF-646D88F6A9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29D9BB-777C-4C78-A3F8-DE1701A163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782ACF-A627-473B-B19D-61FDC416A0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B7420D-2CA2-4A26-930C-FBA7233737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0D56B80-5771-4044-AF12-B77E2337DC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E5A865B-5929-4623-86E4-59BC39F351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8C129D-B9D8-4809-88DF-638848497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518B03-D6F8-4A56-9DF6-7D29FE6736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5CEFEA-26BB-47A2-8E1C-D64352995E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0DD287-ED2B-49CB-BD88-4118F4816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776933-28B9-426E-A53C-03F9767A7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1AB52-95CF-42BE-84FA-4CEF39E97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E859A9-19BE-467E-B72E-FA84011C9A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D6C2F7-5D1B-4759-BF44-3293BD93F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6F81333-6238-4FFF-86BC-99E271B86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02BA16-CD95-4102-9442-499E61A9D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3203FE-BD0B-43B7-8A30-7246874A98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BC3F6E-8CF5-46CC-830A-7E87F0CB3C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62F2CB-AF1A-4998-84C3-4BEB803603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24e7cdd7b42f3" /><Relationship Type="http://schemas.openxmlformats.org/officeDocument/2006/relationships/slideLayout" Target="/ppt/slideLayouts/slideLayout1.xml" Id="Rcc7e412a35c743b0" /><Relationship Type="http://schemas.openxmlformats.org/officeDocument/2006/relationships/slideLayout" Target="/ppt/slideLayouts/slideLayout2.xml" Id="R3bdf3711deff4a57" /><Relationship Type="http://schemas.openxmlformats.org/officeDocument/2006/relationships/slideLayout" Target="/ppt/slideLayouts/slideLayout3.xml" Id="R8230266ad4844dc6" /><Relationship Type="http://schemas.openxmlformats.org/officeDocument/2006/relationships/slideLayout" Target="/ppt/slideLayouts/slideLayout4.xml" Id="R590755f5273347af" /><Relationship Type="http://schemas.openxmlformats.org/officeDocument/2006/relationships/slideLayout" Target="/ppt/slideLayouts/slideLayout5.xml" Id="R670ac0e143194547" /><Relationship Type="http://schemas.openxmlformats.org/officeDocument/2006/relationships/slideLayout" Target="/ppt/slideLayouts/slideLayout6.xml" Id="Rc851337aa42c46cc" /><Relationship Type="http://schemas.openxmlformats.org/officeDocument/2006/relationships/slideLayout" Target="/ppt/slideLayouts/slideLayout7.xml" Id="Rc9c76987119a4055" /><Relationship Type="http://schemas.openxmlformats.org/officeDocument/2006/relationships/slideLayout" Target="/ppt/slideLayouts/slideLayout8.xml" Id="R14fca69be25a43b1" /><Relationship Type="http://schemas.openxmlformats.org/officeDocument/2006/relationships/slideLayout" Target="/ppt/slideLayouts/slideLayout9.xml" Id="R625740203dd848da" /><Relationship Type="http://schemas.openxmlformats.org/officeDocument/2006/relationships/slideLayout" Target="/ppt/slideLayouts/slideLayout10.xml" Id="Ra479a554ac604e0f" /><Relationship Type="http://schemas.openxmlformats.org/officeDocument/2006/relationships/slideLayout" Target="/ppt/slideLayouts/slideLayout11.xml" Id="Rc7f206e38dc245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4BE7A96-D9CF-4B11-BA31-DFBFA6807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C0A369-7D60-409F-88CA-AF147D902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806638-7542-41B0-BDE1-46ADE087CB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DFB6DA-3304-4D8D-9F0B-C3B34A5B6C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BD7FFA-C432-4AE4-9F5E-17F0D091D1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e412a35c743b0"/>
    <p:sldLayoutId xmlns:r="http://schemas.openxmlformats.org/officeDocument/2006/relationships" id="2147483650" r:id="R3bdf3711deff4a57"/>
    <p:sldLayoutId xmlns:r="http://schemas.openxmlformats.org/officeDocument/2006/relationships" id="2147483651" r:id="R8230266ad4844dc6"/>
    <p:sldLayoutId xmlns:r="http://schemas.openxmlformats.org/officeDocument/2006/relationships" id="2147483652" r:id="R590755f5273347af"/>
    <p:sldLayoutId xmlns:r="http://schemas.openxmlformats.org/officeDocument/2006/relationships" id="2147483653" r:id="R670ac0e143194547"/>
    <p:sldLayoutId xmlns:r="http://schemas.openxmlformats.org/officeDocument/2006/relationships" id="2147483654" r:id="Rc851337aa42c46cc"/>
    <p:sldLayoutId xmlns:r="http://schemas.openxmlformats.org/officeDocument/2006/relationships" id="2147483655" r:id="Rc9c76987119a4055"/>
    <p:sldLayoutId xmlns:r="http://schemas.openxmlformats.org/officeDocument/2006/relationships" id="2147483656" r:id="R14fca69be25a43b1"/>
    <p:sldLayoutId xmlns:r="http://schemas.openxmlformats.org/officeDocument/2006/relationships" id="2147483657" r:id="R625740203dd848da"/>
    <p:sldLayoutId xmlns:r="http://schemas.openxmlformats.org/officeDocument/2006/relationships" id="2147483658" r:id="Ra479a554ac604e0f"/>
    <p:sldLayoutId xmlns:r="http://schemas.openxmlformats.org/officeDocument/2006/relationships" id="2147483659" r:id="Rc7f206e38dc2452c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5ba832a5b4c8a" /><Relationship Type="http://schemas.openxmlformats.org/officeDocument/2006/relationships/image" Target="/ppt/media/image.png" Id="R1c07f8097d204699" /><Relationship Type="http://schemas.openxmlformats.org/officeDocument/2006/relationships/image" Target="/ppt/media/image2.png" Id="Re9e2fce109bd4805" /><Relationship Type="http://schemas.openxmlformats.org/officeDocument/2006/relationships/notesSlide" Target="/ppt/notesSlides/notesSlide1.xml" Id="Re984bda53578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66dbb4d7b4168" /><Relationship Type="http://schemas.openxmlformats.org/officeDocument/2006/relationships/image" Target="/ppt/media/image2.png" Id="R6bf011c85d014df1" /><Relationship Type="http://schemas.openxmlformats.org/officeDocument/2006/relationships/image" Target="/ppt/media/image3.png" Id="R6ad48358315b4da3" /><Relationship Type="http://schemas.openxmlformats.org/officeDocument/2006/relationships/notesSlide" Target="/ppt/notesSlides/notesSlide2.xml" Id="R7e45d7502e50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ce4649bb540a2" /><Relationship Type="http://schemas.openxmlformats.org/officeDocument/2006/relationships/image" Target="/ppt/media/image2.png" Id="R4244a61e3f7a42ac" /><Relationship Type="http://schemas.openxmlformats.org/officeDocument/2006/relationships/notesSlide" Target="/ppt/notesSlides/notesSlide3.xml" Id="R25ca1a405b56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3de6dbb76c44ff" /><Relationship Type="http://schemas.openxmlformats.org/officeDocument/2006/relationships/image" Target="/ppt/media/image2.png" Id="R94a5fb46735444cd" /><Relationship Type="http://schemas.openxmlformats.org/officeDocument/2006/relationships/notesSlide" Target="/ppt/notesSlides/notesSlide4.xml" Id="R8e4e79c5dddb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e60c1fe4243b6" /><Relationship Type="http://schemas.openxmlformats.org/officeDocument/2006/relationships/image" Target="/ppt/media/image2.png" Id="Rc75788ffe4a24732" /><Relationship Type="http://schemas.openxmlformats.org/officeDocument/2006/relationships/notesSlide" Target="/ppt/notesSlides/notesSlide5.xml" Id="Rc9f404e8f8ff4c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296cb616254e9d" /><Relationship Type="http://schemas.openxmlformats.org/officeDocument/2006/relationships/image" Target="/ppt/media/image2.png" Id="R7fe0ad8df7684e32" /><Relationship Type="http://schemas.openxmlformats.org/officeDocument/2006/relationships/notesSlide" Target="/ppt/notesSlides/notesSlide6.xml" Id="R7dcfce8e0f3d4f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5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07f8097d204699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B21E93A7-40FE-4FD5-9C04-368A5642C65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23875" y="228600"/>
            <a:ext cx="5905500" cy="66675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4E85"/>
                </a:solidFill>
                <a:latin typeface="TradeGothic"/>
                <a:ea typeface="TradeGothic"/>
                <a:cs typeface="TradeGothic"/>
              </a:defRPr>
            </a:pPr>
            <a:r>
              <a:rPr sz="3300" b="1">
                <a:solidFill>
                  <a:srgbClr val="1F4E85"/>
                </a:solidFill>
                <a:latin typeface="TradeGothic"/>
                <a:ea typeface="TradeGothic"/>
                <a:cs typeface="TradeGothic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pic>
        <p:nvPicPr>
          <p:cNvPr id="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2fce109bd4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737046-A8A6-46D0-B71D-6571E25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 SETU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0CC462-CFBF-44EE-BD30-B0D829A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3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Farmer Procurement Slot and Queue Management System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A26A6B-32E2-4C0C-BCEC-11C5AD0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604837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0" tIns="38100" rIns="952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Problem Statement ID:  [ENTER SIH PS ID]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Problem Statement Title:  Digital Mandi Procurement Slot and Queue Management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Theme:  Agriculture, FoodTech and Rural Development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PS Category:  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Team ID:  [ENTER REGISTERED TEAM ID]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Team Name:  [ENTER REGISTERED TEAM NAME]</a:t>
            </a:r>
          </a:p>
        </p:txBody>
      </p:sp>
    </p:spTree>
    <p:extLst>
      <p:ext uri="{BB962C8B-B14F-4D97-AF65-F5344CB8AC3E}">
        <p14:creationId xmlns:p14="http://schemas.microsoft.com/office/powerpoint/2010/main" val="20376101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A0BC63-6CBB-4D7E-B475-99A3A43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3052847C-7A94-4CF7-8928-9CB419463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F4E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1F4E85"/>
                </a:solidFill>
                <a:latin typeface="Times New Roman"/>
                <a:ea typeface="Times New Roman"/>
                <a:cs typeface="Times New Roman"/>
              </a:rPr>
              <a:t>KISAN SETU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4BC2AE-CCDE-4E6D-B48B-7E37EDF961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938552A-C840-4765-BB58-829C41A77E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539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011c85d014d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3A88314B-D222-4875-8611-6DFE5283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PROPOSED SOLUTION AND FARMER WORKFLOW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A0945575-2A2A-4DB2-8DE1-C98B510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46A4B436-C1A5-4662-B045-F0777259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A capacity-aware procurement journey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5BED4C00-20CC-4F72-ACD8-45D1543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3F821323-5B7A-4753-9615-55EC03AF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288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Register or sign in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5669659C-4D37-46D1-ADA6-8A07BCC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Phone-style login mapped to a secure account identity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D9E07E2B-F97F-4246-82AB-784B83F3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D49BF305-931F-4A60-B239-C53D2834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Reserve a mandi slot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6F7060E1-0CF6-4C8F-8464-7DEC5F90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Choose centre, date, time and produce quantity</a:t>
            </a:r>
          </a:p>
        </p:txBody>
      </p:sp>
      <p:cxnSp>
        <p:nvCxnSpPr>
          <p:cNvPr id="15405" name=""/>
          <p:cNvCxnSpPr>
            <a:stCxn xmlns:a="http://schemas.openxmlformats.org/drawingml/2006/main" id="15367" idx="4"/>
            <a:endCxn xmlns:a="http://schemas.openxmlformats.org/drawingml/2006/main" id="15370" idx="0"/>
          </p:cNvCxnSpPr>
          <p:nvPr/>
        </p:nvCxnSpPr>
        <p:spPr>
          <a:xfrm xmlns:a="http://schemas.openxmlformats.org/drawingml/2006/main">
            <a:off x="895350" y="25431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082C9ECF-C3F5-435B-AB82-CE12A723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1A683D48-4D79-431E-9441-2C5AA26B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051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Receive token and gate pass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705030B7-BA37-4A46-815F-ACAAB04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A digital record prepares the farmer for entry</a:t>
            </a:r>
          </a:p>
        </p:txBody>
      </p:sp>
      <p:cxnSp>
        <p:nvCxnSpPr>
          <p:cNvPr id="15409" name=""/>
          <p:cNvCxnSpPr>
            <a:stCxn xmlns:a="http://schemas.openxmlformats.org/drawingml/2006/main" id="15370" idx="4"/>
            <a:endCxn xmlns:a="http://schemas.openxmlformats.org/drawingml/2006/main" id="15374" idx="0"/>
          </p:cNvCxnSpPr>
          <p:nvPr/>
        </p:nvCxnSpPr>
        <p:spPr>
          <a:xfrm xmlns:a="http://schemas.openxmlformats.org/drawingml/2006/main">
            <a:off x="895350" y="31813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5C28C274-2BA8-43BF-9C6B-CC0001A0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FE582DE5-5C15-4E3F-B68A-3E9991A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Track the live queue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157C7A2B-01D4-4108-A895-0C85410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005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Realtime status shows the current position</a:t>
            </a:r>
          </a:p>
        </p:txBody>
      </p:sp>
      <p:cxnSp>
        <p:nvCxnSpPr>
          <p:cNvPr id="15413" name=""/>
          <p:cNvCxnSpPr>
            <a:stCxn xmlns:a="http://schemas.openxmlformats.org/drawingml/2006/main" id="15374" idx="4"/>
            <a:endCxn xmlns:a="http://schemas.openxmlformats.org/drawingml/2006/main" id="15378" idx="0"/>
          </p:cNvCxnSpPr>
          <p:nvPr/>
        </p:nvCxnSpPr>
        <p:spPr>
          <a:xfrm xmlns:a="http://schemas.openxmlformats.org/drawingml/2006/main">
            <a:off x="895350" y="3819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FBCD9281-7D86-475E-8069-B6A2E9FF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12AF6527-BD54-4877-8226-B8981F4D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81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Complete procurement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CBCD3F1A-B5B4-45CE-A08A-81099507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07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Procurement and recorded payment status reach the inbox</a:t>
            </a:r>
          </a:p>
        </p:txBody>
      </p:sp>
      <p:cxnSp>
        <p:nvCxnSpPr>
          <p:cNvPr id="15417" name=""/>
          <p:cNvCxnSpPr>
            <a:stCxn xmlns:a="http://schemas.openxmlformats.org/drawingml/2006/main" id="15378" idx="4"/>
            <a:endCxn xmlns:a="http://schemas.openxmlformats.org/drawingml/2006/main" id="15382" idx="0"/>
          </p:cNvCxnSpPr>
          <p:nvPr/>
        </p:nvCxnSpPr>
        <p:spPr>
          <a:xfrm xmlns:a="http://schemas.openxmlformats.org/drawingml/2006/main">
            <a:off x="895350" y="44577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9D8"/>
            </a:solidFill>
          </a:ln>
        </p:spPr>
      </p:cxn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ED8D23F4-DB69-4DD4-967C-2DD56E5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56197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9D8"/>
            </a:solidFill>
          </a:ln>
        </p:spPr>
      </p:sp>
      <p:pic>
        <p:nvPicPr>
          <p:cNvPr id="15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48358315b4da3"/>
          <a:srcRect xmlns:a="http://schemas.openxmlformats.org/drawingml/2006/main" l="0" t="34129" r="0" b="3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857375"/>
            <a:ext cx="54292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15388" name="">
            <a:extLst xmlns:a="http://schemas.openxmlformats.org/drawingml/2006/main">
              <a:ext uri="{FF2B5EF4-FFF2-40B4-BE49-F238E27FC236}">
                <a16:creationId xmlns:a16="http://schemas.microsoft.com/office/drawing/2014/main" id="{DD4B297F-99B7-46F8-B1F4-E03E715B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4825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778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Farmer dashboard design: token, booking status, queue position, gate pass and history</a:t>
            </a:r>
          </a:p>
        </p:txBody>
      </p:sp>
      <p:sp>
        <p:nvSpPr>
          <p:cNvPr id="15389" name="">
            <a:extLst xmlns:a="http://schemas.openxmlformats.org/drawingml/2006/main">
              <a:ext uri="{FF2B5EF4-FFF2-40B4-BE49-F238E27FC236}">
                <a16:creationId xmlns:a16="http://schemas.microsoft.com/office/drawing/2014/main" id="{EFF420F2-ECA5-4E2A-9827-D8E74039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715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C5C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5C32"/>
                </a:solidFill>
                <a:latin typeface="Arial"/>
                <a:ea typeface="Arial"/>
                <a:cs typeface="Arial"/>
              </a:rPr>
              <a:t>Unique design: one role-aware login, admin-only operator creation, capacity-linked slots and realtime farmer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0535156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56162F0-DCE9-45E2-93C9-89D7CC16E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1E5428-1A23-497D-9CA2-69F9178AD1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639F5AE-107F-48C9-B3AE-193A52B00D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4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4a61e3f7a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D6E50A75-55BB-4A81-AC7D-5986923A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80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SYSTEM ARCHITECTURE AND OPERATIONAL WORKFLOW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D08EACE9-C8DB-4631-BE18-E2CBCF8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1459F21-4DD9-46FC-BD03-FCCBD74A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DABE5257-FF46-4F55-BDCB-8791D384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Farmer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3388324B-4E12-4341-95C4-B66235A9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9784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4C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C00"/>
                </a:solidFill>
                <a:latin typeface="Arial"/>
                <a:ea typeface="Arial"/>
                <a:cs typeface="Arial"/>
              </a:rPr>
              <a:t>Mandi</a:t>
            </a:r>
          </a:p>
          <a:p xmlns:a="http://schemas.openxmlformats.org/drawingml/2006/main">
            <a:pPr algn="ctr">
              <a:defRPr sz="1575" b="1">
                <a:solidFill>
                  <a:srgbClr val="A84C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C00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556FBC37-BDE4-4268-B83A-BE6C0156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907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6098F9E3-3480-43B8-8393-EF680A4F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WEB INTERFACES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2990533A-B49C-4C4C-9F38-0A74421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Public portal</a:t>
            </a:r>
          </a:p>
          <a:p xmlns:a="http://schemas.openxmlformats.org/drawingml/2006/main">
            <a:pPr algn="ctr">
              <a:defRPr sz="14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HTML + CSS + JavaScript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0E8459CA-B5E1-454F-9C3B-98A2D0F5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09925"/>
            <a:ext cx="2047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926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Operator queue</a:t>
            </a:r>
          </a:p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Centre-scoped actions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3B2E9EC4-92DD-45BE-A4F1-4142D944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29100"/>
            <a:ext cx="2047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Admin portal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Centres, slots, bookings, staff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0E8A073-F396-4E44-8F2C-D2FA1EC1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1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SUPABASE SERVICES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0C94D49D-1FB5-40D1-BF0E-A349965C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3143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Authentication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Phone mapped to internal email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963A855C-F753-42CE-89BE-749D49F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71775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PostgreSQL + Row Level Security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Role and centre isolation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75B3AD9B-80C9-4D1A-9F86-0778C22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004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Realtime booking changes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Farmer and admin views update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063894AF-7769-485A-8C01-08917EE6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3143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Edge Function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Secure operator account creation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5C58D6ED-E581-4F05-9B53-98760C55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02E04302-4233-4F2F-883B-72343998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centres + slots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bookings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cxnSp>
        <p:nvCxnSpPr>
          <p:cNvPr id="17466" name=""/>
          <p:cNvCxnSpPr>
            <a:stCxn xmlns:a="http://schemas.openxmlformats.org/drawingml/2006/main" id="17415" idx="3"/>
            <a:endCxn xmlns:a="http://schemas.openxmlformats.org/drawingml/2006/main" id="17419" idx="1"/>
          </p:cNvCxnSpPr>
          <p:nvPr/>
        </p:nvCxnSpPr>
        <p:spPr>
          <a:xfrm xmlns:a="http://schemas.openxmlformats.org/drawingml/2006/main">
            <a:off x="2047875" y="2324100"/>
            <a:ext cx="4762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44"/>
            </a:solidFill>
            <a:headEnd type="arrow" w="med" len="med"/>
          </a:ln>
        </p:spPr>
      </p:cxnSp>
      <p:cxnSp>
        <p:nvCxnSpPr>
          <p:cNvPr id="17467" name=""/>
          <p:cNvCxnSpPr>
            <a:stCxn xmlns:a="http://schemas.openxmlformats.org/drawingml/2006/main" id="17416" idx="3"/>
            <a:endCxn xmlns:a="http://schemas.openxmlformats.org/drawingml/2006/main" id="17420" idx="1"/>
          </p:cNvCxnSpPr>
          <p:nvPr/>
        </p:nvCxnSpPr>
        <p:spPr>
          <a:xfrm xmlns:a="http://schemas.openxmlformats.org/drawingml/2006/main">
            <a:off x="2047875" y="3181350"/>
            <a:ext cx="4762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8220"/>
            </a:solidFill>
            <a:headEnd type="arrow" w="med" len="med"/>
          </a:ln>
        </p:spPr>
      </p:cxnSp>
      <p:cxnSp>
        <p:nvCxnSpPr>
          <p:cNvPr id="17468" name=""/>
          <p:cNvCxnSpPr>
            <a:stCxn xmlns:a="http://schemas.openxmlformats.org/drawingml/2006/main" id="17417" idx="3"/>
            <a:endCxn xmlns:a="http://schemas.openxmlformats.org/drawingml/2006/main" id="17421" idx="1"/>
          </p:cNvCxnSpPr>
          <p:nvPr/>
        </p:nvCxnSpPr>
        <p:spPr>
          <a:xfrm xmlns:a="http://schemas.openxmlformats.org/drawingml/2006/main">
            <a:off x="2047875" y="4038600"/>
            <a:ext cx="47625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85"/>
            </a:solidFill>
            <a:headEnd type="arrow" w="med" len="med"/>
          </a:ln>
        </p:spPr>
      </p:cxnSp>
      <p:cxnSp>
        <p:nvCxnSpPr>
          <p:cNvPr id="17469" name=""/>
          <p:cNvCxnSpPr>
            <a:stCxn xmlns:a="http://schemas.openxmlformats.org/drawingml/2006/main" id="17419" idx="3"/>
            <a:endCxn xmlns:a="http://schemas.openxmlformats.org/drawingml/2006/main" id="17424" idx="1"/>
          </p:cNvCxnSpPr>
          <p:nvPr/>
        </p:nvCxnSpPr>
        <p:spPr>
          <a:xfrm xmlns:a="http://schemas.openxmlformats.org/drawingml/2006/main">
            <a:off x="4572000" y="2533650"/>
            <a:ext cx="428625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8C9D8"/>
            </a:solidFill>
            <a:headEnd type="arrow" w="sm" len="sm"/>
          </a:ln>
        </p:spPr>
      </p:cxnSp>
      <p:cxnSp>
        <p:nvCxnSpPr>
          <p:cNvPr id="17470" name=""/>
          <p:cNvCxnSpPr>
            <a:stCxn xmlns:a="http://schemas.openxmlformats.org/drawingml/2006/main" id="17420" idx="3"/>
            <a:endCxn xmlns:a="http://schemas.openxmlformats.org/drawingml/2006/main" id="17424" idx="1"/>
          </p:cNvCxnSpPr>
          <p:nvPr/>
        </p:nvCxnSpPr>
        <p:spPr>
          <a:xfrm xmlns:a="http://schemas.openxmlformats.org/drawingml/2006/main" flipV="1">
            <a:off x="4572000" y="3114675"/>
            <a:ext cx="428625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8C9D8"/>
            </a:solidFill>
            <a:headEnd type="arrow" w="sm" len="sm"/>
          </a:ln>
        </p:spPr>
      </p:cxnSp>
      <p:cxnSp>
        <p:nvCxnSpPr>
          <p:cNvPr id="17471" name=""/>
          <p:cNvCxnSpPr>
            <a:stCxn xmlns:a="http://schemas.openxmlformats.org/drawingml/2006/main" id="17421" idx="3"/>
            <a:endCxn xmlns:a="http://schemas.openxmlformats.org/drawingml/2006/main" id="17424" idx="1"/>
          </p:cNvCxnSpPr>
          <p:nvPr/>
        </p:nvCxnSpPr>
        <p:spPr>
          <a:xfrm xmlns:a="http://schemas.openxmlformats.org/drawingml/2006/main" flipV="1">
            <a:off x="4572000" y="311467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B8C9D8"/>
            </a:solidFill>
            <a:headEnd type="arrow" w="sm" len="sm"/>
          </a:ln>
        </p:spPr>
      </p:cxnSp>
      <p:cxnSp>
        <p:nvCxnSpPr>
          <p:cNvPr id="17472" name=""/>
          <p:cNvCxnSpPr>
            <a:stCxn xmlns:a="http://schemas.openxmlformats.org/drawingml/2006/main" id="17423" idx="3"/>
            <a:endCxn xmlns:a="http://schemas.openxmlformats.org/drawingml/2006/main" id="17428" idx="1"/>
          </p:cNvCxnSpPr>
          <p:nvPr/>
        </p:nvCxnSpPr>
        <p:spPr>
          <a:xfrm xmlns:a="http://schemas.openxmlformats.org/drawingml/2006/main">
            <a:off x="8143875" y="2314575"/>
            <a:ext cx="619125" cy="1066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F4E85"/>
            </a:solidFill>
            <a:headEnd type="arrow" w="sm" len="sm"/>
          </a:ln>
        </p:spPr>
      </p:cxnSp>
      <p:cxnSp>
        <p:nvCxnSpPr>
          <p:cNvPr id="17473" name=""/>
          <p:cNvCxnSpPr>
            <a:stCxn xmlns:a="http://schemas.openxmlformats.org/drawingml/2006/main" id="17424" idx="3"/>
            <a:endCxn xmlns:a="http://schemas.openxmlformats.org/drawingml/2006/main" id="17428" idx="1"/>
          </p:cNvCxnSpPr>
          <p:nvPr/>
        </p:nvCxnSpPr>
        <p:spPr>
          <a:xfrm xmlns:a="http://schemas.openxmlformats.org/drawingml/2006/main">
            <a:off x="8143875" y="3114675"/>
            <a:ext cx="6191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A44"/>
            </a:solidFill>
            <a:headEnd type="arrow" w="med" len="med"/>
          </a:ln>
        </p:spPr>
      </p:cxnSp>
      <p:cxnSp>
        <p:nvCxnSpPr>
          <p:cNvPr id="17474" name=""/>
          <p:cNvCxnSpPr>
            <a:stCxn xmlns:a="http://schemas.openxmlformats.org/drawingml/2006/main" id="17425" idx="3"/>
            <a:endCxn xmlns:a="http://schemas.openxmlformats.org/drawingml/2006/main" id="17428" idx="1"/>
          </p:cNvCxnSpPr>
          <p:nvPr/>
        </p:nvCxnSpPr>
        <p:spPr>
          <a:xfrm xmlns:a="http://schemas.openxmlformats.org/drawingml/2006/main" flipV="1">
            <a:off x="8143875" y="3381375"/>
            <a:ext cx="619125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B79BE"/>
            </a:solidFill>
            <a:headEnd type="arrow" w="sm" len="sm"/>
          </a:ln>
        </p:spPr>
      </p:cxnSp>
      <p:cxnSp>
        <p:nvCxnSpPr>
          <p:cNvPr id="17475" name=""/>
          <p:cNvCxnSpPr>
            <a:stCxn xmlns:a="http://schemas.openxmlformats.org/drawingml/2006/main" id="17426" idx="3"/>
            <a:endCxn xmlns:a="http://schemas.openxmlformats.org/drawingml/2006/main" id="17428" idx="1"/>
          </p:cNvCxnSpPr>
          <p:nvPr/>
        </p:nvCxnSpPr>
        <p:spPr>
          <a:xfrm xmlns:a="http://schemas.openxmlformats.org/drawingml/2006/main" flipV="1">
            <a:off x="8143875" y="3381375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F58220"/>
            </a:solidFill>
            <a:headEnd type="arrow" w="sm" len="sm"/>
          </a:ln>
        </p:spPr>
      </p:cxn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F0AE3A94-BC13-4CD5-836E-FC312981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1F4E85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Admin configures centre and capacity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B4A51CA2-A86A-4B0E-923C-AA832D5E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10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Farmer books a slot and receives token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15597EC0-7DA0-40A8-9F1E-F4422B8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10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4288">
            <a:solidFill>
              <a:srgbClr val="F58220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Operator advances procurement status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12D4406C-6619-4412-9E65-F0A918B9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102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Realtime update and notification reach farmer</a:t>
            </a:r>
          </a:p>
        </p:txBody>
      </p:sp>
    </p:spTree>
    <p:extLst>
      <p:ext uri="{BB962C8B-B14F-4D97-AF65-F5344CB8AC3E}">
        <p14:creationId xmlns:p14="http://schemas.microsoft.com/office/powerpoint/2010/main" val="4085397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C43E128-A7F2-4ADA-9B23-F48F77E25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69C670-062C-43E1-AF7C-F178F52211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F0759C0-34E6-46B5-93F1-4D5BDD4AD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2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5fb46735444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BA19416E-4EF0-413B-B024-41B20C4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80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WORKING MVP, IMPLEMENTATION RISKS AND PILOT PATH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D161D2B1-D9E1-47D6-9754-E1A6D285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6125E8B4-0583-420A-89FD-2EBEF805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905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882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WORKING PROTOTYPE; PILOT HARDENING NEXT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C58E2482-DFE8-4CDB-AB06-F41EADCF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Implemented prototype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A4458934-1332-4F5C-BD97-53D40981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08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943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Responsive farmer, operator and admin portals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Five-table procurement data model with RLS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Booking and notification subscriptions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Admin-only operator provisioning via Edge Function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Local prototype connected to a hosted Supabase backend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0593949C-99F9-4A03-9A3B-8A6698F5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Key risks and controls</a:t>
            </a:r>
          </a:p>
        </p:txBody>
      </p:sp>
      <p:graphicFrame>
        <p:nvGraphicFramePr>
          <p:cNvPr id="17433" name=""/>
          <p:cNvGraphicFramePr/>
          <p:nvPr/>
        </p:nvGraphicFramePr>
        <p:xfrm>
          <a:off xmlns:a="http://schemas.openxmlformats.org/drawingml/2006/main" x="4953000" y="214312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81500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1F4E8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 / next hardening step</a:t>
                      </a:r>
                    </a:p>
                  </a:txBody>
                  <a:tcPr marL="91440" marR="91440" marT="45720" marB="45720">
                    <a:solidFill>
                      <a:srgbClr val="1F4E85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Weak mandi connectivity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Lightweight pages and retry states; offline gate-pass access is planned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Simultaneous slot booking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Unique slot-token constraints; move token allocation into one database transaction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Incorrect role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Server-assigned roles, route guards and Row Level Security on every 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Low staff adoption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Touch-friendly operator queue, centre-scoped screens and short assisted onboarding</a:t>
                      </a:r>
                    </a:p>
                  </a:txBody>
                  <a:tcPr marL="91440" marR="91440" marT="45720" marB="45720"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2742076E-44AD-455C-B235-834CF09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Pilot path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3C75203-9139-4376-B288-EC84D20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62575"/>
            <a:ext cx="957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575"/>
                </a:solidFill>
                <a:latin typeface="Arial"/>
                <a:ea typeface="Arial"/>
                <a:cs typeface="Arial"/>
              </a:rPr>
              <a:t>1. One mandi and one operator shift     2. Measure wait, no-shows and slot use     3. Expand after security review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107686B-4D61-44CE-81C1-421F72DA6A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0B9F81-B3BD-4429-9B70-56CBFE5ED3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649719F-D384-484E-B598-534FE774C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3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788ffe4a247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B9293EC6-FB72-4B96-8C5B-EDFBF89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EXPECTED OUTCOMES AND PILOT MEASUREMENT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04FB9A90-E8E6-467B-9F16-5B0992F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CC04953A-085F-4A53-A452-34BCA6B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38A44"/>
            </a:solidFill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A293FAAC-DC14-488D-A683-86DAC575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FARMER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DDA3B177-6032-4387-9EE4-AC047C2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Planned arrival replaces uncertain waiting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Live queue and payment status reduce repeated enquiries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19BBE2AB-0816-41E3-8843-17353590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212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58220"/>
            </a:solidFill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59D618EF-F05E-4B73-B230-119FA32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82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8220"/>
                </a:solidFill>
                <a:latin typeface="Arial"/>
                <a:ea typeface="Arial"/>
                <a:cs typeface="Arial"/>
              </a:rPr>
              <a:t>MANDI OPERATIONS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1651E16F-0B79-4292-984A-FA05502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Capacity-based windows smooth gate inflow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Operators work from one ordered, centre-scoped queue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37C97D31-93B2-4B41-8EF9-D5C1520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F4E85"/>
            </a:solidFill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72DB2535-95B4-4AF3-AD82-943A668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GOVERNMENT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04ED402E-3DC3-4F28-A644-49A4B813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Booking-to-payment history supports audit review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Centre utilisation reveals where capacity is constrained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FE2298A3-899F-4861-831C-F00C5D02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81375"/>
            <a:ext cx="7620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B79BE"/>
            </a:solidFill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0DDEAAC8-97EA-47EE-ACCA-A6291F58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79B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79BE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660B7C51-6B0B-4A5F-85A1-7935BCD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Shorter queues can reduce engine idling</a:t>
            </a:r>
          </a:p>
          <a:p xmlns:a="http://schemas.openxmlformats.org/drawingml/2006/main">
            <a:pPr algn="l"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Fewer avoidable trips reduce local congestion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DC5FE032-4B0D-40E5-A304-C5D274A8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Pilot success measures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F4345C77-65EA-4FC1-AEB4-A103EFB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Median gate wait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CABEC477-1E9E-4412-8BD3-4CA83A6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8900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Arrival within booked window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206DA0FA-CA71-426B-8E12-DBD604E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No-show rate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860A5D61-4BCC-41EA-82E2-A2FE643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8900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Token-to-procurement time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010E139B-8202-46F4-BEDB-70628F4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48300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5FA"/>
          </a:solidFill>
          <a:ln xmlns:a="http://schemas.openxmlformats.org/drawingml/2006/main" w="14288">
            <a:solidFill>
              <a:srgbClr val="0B79BE"/>
            </a:solidFill>
          </a:ln>
        </p:spPr>
        <p:txBody>
          <a:bodyPr xmlns:a="http://schemas.openxmlformats.org/drawingml/2006/main" lIns="95250" tIns="66675" rIns="95250" bIns="66675" anchor="ctr">
            <a:normAutofit fontScale="908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Payment status visibility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0107211-ED50-453A-AC48-4C7657313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561D8F-9BAA-4613-A5CD-333FFE4DAB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3D52F13-59D4-40C5-91CC-4CB974209D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KISAN</a:t>
            </a:r>
            <a:endParaRPr/>
          </a:p>
          <a:p xmlns:a="http://schemas.openxmlformats.org/drawingml/2006/main">
            <a:pPr algn="ctr">
              <a:buNone/>
              <a:defRPr sz="13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SETU</a:t>
            </a:r>
            <a:endParaRPr/>
          </a:p>
        </p:txBody>
      </p:sp>
      <p:pic>
        <p:nvPicPr>
          <p:cNvPr id="174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0ad8df7684e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4ADDC620-2963-4C22-968D-FD103E6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897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PRIMARY REFERENCES AND WORKING PROTOTYPE EVIDENCE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EECCF4A7-D5D8-4E9E-A4C0-015D90B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8C9D8"/>
            </a:solidFill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6DB7D8B9-2177-4E49-879C-F0CFE56D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Government and domain references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15B21574-68F4-404F-A681-B2BEFCFD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1911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National Agriculture Market (e-NAM)</a:t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https://enam.gov.in/web/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Department of Food and Public Distribution</a:t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https://dfpd.gov.in/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Smart India Hackathon 2026 idea presentation format</a:t>
            </a:r>
          </a:p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Supplied SIH template and submission instructions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6DE3BE30-EE96-48E3-BA53-D50964B6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4E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E85"/>
                </a:solidFill>
                <a:latin typeface="Arial"/>
                <a:ea typeface="Arial"/>
                <a:cs typeface="Arial"/>
              </a:rPr>
              <a:t>Technology references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D032D122-7D7B-4D96-AEEB-F44CD19E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0958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Supabase Authentication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https://supabase.com/docs/guides/auth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Row Level Security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https://supabase.com/docs/guides/database/postgres/row-level-security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Realtime Postgres changes and Edge Functions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https://supabase.com/docs/guides/realtime/postgres-changes</a:t>
            </a:r>
          </a:p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https://supabase.com/docs/guides/functions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7A0B4C70-BAA9-4906-B0FF-92242D3E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4288">
            <a:solidFill>
              <a:srgbClr val="138A44"/>
            </a:solidFill>
          </a:ln>
        </p:spPr>
        <p:txBody>
          <a:bodyPr xmlns:a="http://schemas.openxmlformats.org/drawingml/2006/main" lIns="95250" tIns="66675" rIns="95250" bIns="66675" anchor="ctr">
            <a:normAutofit fontScale="954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8A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8A44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111E07E5-C49C-4096-AE6A-3B6BE987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2445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Local demo: http://localhost:8080/     Source modules: public portal, operator queue, admin command, Supabase migrations and create-staff function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2026-09-10T08:12:47.2410000Z</dcterms:created>
  <dcterms:modified xsi:type="dcterms:W3CDTF">2026-09-10T08:12:47.2410000Z</dcterms:modified>
</coreProperties>
</file>